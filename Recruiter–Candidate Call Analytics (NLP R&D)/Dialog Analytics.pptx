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portfolio project: an R&amp;D notebook analyzing recruiter-candidate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project goal: automated checklist verification and compliance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raw CSV with JSON becomes a per-utterance dataframe.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project's technology stack as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 classifier and the 0-10 compliance score; show histogram.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 fixed checklist becomes a generalized keyword-based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unified text preprocessing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Talk-time ratio and part-of-speech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Emotion correlation via a phik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Dominant vocabulary for recruiter vs. candidate.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framing as a prototype, scope of what's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571635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R&amp;D / NLP PROTOTYPE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509354"/>
            <a:ext cx="14716224" cy="197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181"/>
              </a:lnSpc>
              <a:buNone/>
            </a:pPr>
            <a:r>
              <a:rPr lang="en-US" sz="7200" b="1" spc="-108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Recruiter–Candidate Call Analytics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406" y="3714467"/>
            <a:ext cx="10791729" cy="977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291"/>
              </a:lnSpc>
              <a:buNone/>
            </a:pPr>
            <a:r>
              <a:rPr lang="en-US" sz="25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checklist verification and speech-pattern signals of call quality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406" y="5110617"/>
            <a:ext cx="15716356" cy="352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project · Python · Google Colab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392546" y="952406"/>
            <a:ext cx="742912" cy="2476406"/>
          </a:xfrm>
          <a:prstGeom prst="rect">
            <a:avLst/>
          </a:prstGeom>
          <a:gradFill rotWithShape="1">
            <a:gsLst>
              <a:gs pos="30000">
                <a:srgbClr val="201E1D">
                  <a:alpha val="22000"/>
                </a:srgbClr>
              </a:gs>
              <a:gs pos="32000">
                <a:srgbClr val="201E1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Shape 5"/>
          <p:cNvSpPr/>
          <p:nvPr/>
        </p:nvSpPr>
        <p:spPr>
          <a:xfrm>
            <a:off x="16306651" y="4186654"/>
            <a:ext cx="914703" cy="78165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8" name="Text 6"/>
          <p:cNvSpPr/>
          <p:nvPr/>
        </p:nvSpPr>
        <p:spPr>
          <a:xfrm>
            <a:off x="16388861" y="4105578"/>
            <a:ext cx="826483" cy="975481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0058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6388861" y="4268864"/>
            <a:ext cx="826483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6413550" y="4286009"/>
            <a:ext cx="826483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6367601" y="4253090"/>
            <a:ext cx="826483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6548461" y="5726056"/>
            <a:ext cx="419081" cy="85706"/>
          </a:xfrm>
          <a:prstGeom prst="rect">
            <a:avLst/>
          </a:prstGeom>
          <a:solidFill>
            <a:srgbClr val="0D0C0C"/>
          </a:solidFill>
          <a:ln/>
        </p:spPr>
      </p:sp>
      <p:sp>
        <p:nvSpPr>
          <p:cNvPr id="13" name="Shape 11"/>
          <p:cNvSpPr/>
          <p:nvPr/>
        </p:nvSpPr>
        <p:spPr>
          <a:xfrm>
            <a:off x="16548461" y="5840300"/>
            <a:ext cx="419081" cy="85706"/>
          </a:xfrm>
          <a:prstGeom prst="rect">
            <a:avLst/>
          </a:prstGeom>
          <a:solidFill>
            <a:srgbClr val="2C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548461" y="5954543"/>
            <a:ext cx="419081" cy="85706"/>
          </a:xfrm>
          <a:prstGeom prst="rect">
            <a:avLst/>
          </a:prstGeom>
          <a:solidFill>
            <a:srgbClr val="4A4747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48461" y="6068787"/>
            <a:ext cx="419081" cy="85706"/>
          </a:xfrm>
          <a:prstGeom prst="rect">
            <a:avLst/>
          </a:prstGeom>
          <a:solidFill>
            <a:srgbClr val="686565"/>
          </a:solidFill>
          <a:ln/>
        </p:spPr>
      </p:sp>
      <p:sp>
        <p:nvSpPr>
          <p:cNvPr id="16" name="Shape 14"/>
          <p:cNvSpPr/>
          <p:nvPr/>
        </p:nvSpPr>
        <p:spPr>
          <a:xfrm>
            <a:off x="16548461" y="6183030"/>
            <a:ext cx="419081" cy="85706"/>
          </a:xfrm>
          <a:prstGeom prst="rect">
            <a:avLst/>
          </a:prstGeom>
          <a:solidFill>
            <a:srgbClr val="86838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48461" y="6297273"/>
            <a:ext cx="419081" cy="85706"/>
          </a:xfrm>
          <a:prstGeom prst="rect">
            <a:avLst/>
          </a:prstGeom>
          <a:solidFill>
            <a:srgbClr val="A4A1A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548461" y="6411516"/>
            <a:ext cx="419081" cy="85706"/>
          </a:xfrm>
          <a:prstGeom prst="rect">
            <a:avLst/>
          </a:prstGeom>
          <a:solidFill>
            <a:srgbClr val="C2C0C0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48461" y="6525760"/>
            <a:ext cx="419081" cy="85706"/>
          </a:xfrm>
          <a:prstGeom prst="rect">
            <a:avLst/>
          </a:prstGeom>
          <a:solidFill>
            <a:srgbClr val="DB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48461" y="6640003"/>
            <a:ext cx="419081" cy="85706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48461" y="6754246"/>
            <a:ext cx="431176" cy="97801"/>
          </a:xfrm>
          <a:prstGeom prst="rect">
            <a:avLst/>
          </a:prstGeom>
          <a:solidFill>
            <a:srgbClr val="F8F4F4"/>
          </a:solidFill>
          <a:ln w="6048">
            <a:solidFill>
              <a:srgbClr val="D7D3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16428" y="7692100"/>
            <a:ext cx="104699" cy="104699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649664" y="7692100"/>
            <a:ext cx="104699" cy="104699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782901" y="7692100"/>
            <a:ext cx="104699" cy="104699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16137" y="7692100"/>
            <a:ext cx="104699" cy="104699"/>
          </a:xfrm>
          <a:prstGeom prst="rect">
            <a:avLst/>
          </a:prstGeom>
          <a:solidFill>
            <a:srgbClr val="FF90B1"/>
          </a:solidFill>
          <a:ln/>
        </p:spPr>
      </p:sp>
      <p:sp>
        <p:nvSpPr>
          <p:cNvPr id="26" name="Shape 24"/>
          <p:cNvSpPr/>
          <p:nvPr/>
        </p:nvSpPr>
        <p:spPr>
          <a:xfrm>
            <a:off x="16516428" y="7825336"/>
            <a:ext cx="104699" cy="104699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6649664" y="7825336"/>
            <a:ext cx="104699" cy="10469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8" name="Shape 26"/>
          <p:cNvSpPr/>
          <p:nvPr/>
        </p:nvSpPr>
        <p:spPr>
          <a:xfrm>
            <a:off x="16782901" y="7825336"/>
            <a:ext cx="104699" cy="104699"/>
          </a:xfrm>
          <a:prstGeom prst="rect">
            <a:avLst/>
          </a:prstGeom>
          <a:solidFill>
            <a:srgbClr val="7D7979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16137" y="7825336"/>
            <a:ext cx="116795" cy="116795"/>
          </a:xfrm>
          <a:prstGeom prst="rect">
            <a:avLst/>
          </a:prstGeom>
          <a:solidFill>
            <a:srgbClr val="F8F4F4"/>
          </a:solidFill>
          <a:ln w="6048">
            <a:solidFill>
              <a:srgbClr val="D7D3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87796" y="8782089"/>
            <a:ext cx="552412" cy="552412"/>
          </a:xfrm>
          <a:prstGeom prst="ellipse">
            <a:avLst/>
          </a:prstGeom>
          <a:solidFill>
            <a:srgbClr val="201E1D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59259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2753879" cy="1427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recruiter cover the required checklist?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406" y="3241997"/>
            <a:ext cx="11282267" cy="1866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4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notebook analyzes diarized recruiter–candidate phone calls: it checks whether a required set of topics was covered, computes a compliance score against that checklist, and explores speech-pattern signals that may correlate with call quality.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333406" y="5603970"/>
            <a:ext cx="1282757" cy="48059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6" name="Text 4"/>
          <p:cNvSpPr/>
          <p:nvPr/>
        </p:nvSpPr>
        <p:spPr>
          <a:xfrm>
            <a:off x="1542956" y="5699220"/>
            <a:ext cx="939857" cy="32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4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Greeting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768487" y="5603970"/>
            <a:ext cx="1545450" cy="48059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8" name="Text 6"/>
          <p:cNvSpPr/>
          <p:nvPr/>
        </p:nvSpPr>
        <p:spPr>
          <a:xfrm>
            <a:off x="2978037" y="5699220"/>
            <a:ext cx="1202550" cy="32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4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Citizenship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466262" y="5603970"/>
            <a:ext cx="793372" cy="48059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10" name="Text 8"/>
          <p:cNvSpPr/>
          <p:nvPr/>
        </p:nvSpPr>
        <p:spPr>
          <a:xfrm>
            <a:off x="4675812" y="5699220"/>
            <a:ext cx="450472" cy="32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4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11958" y="5603970"/>
            <a:ext cx="1086682" cy="48059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21508" y="5699220"/>
            <a:ext cx="743782" cy="32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4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650964" y="5603970"/>
            <a:ext cx="1047467" cy="48059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60514" y="5699220"/>
            <a:ext cx="704567" cy="32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4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850756" y="5603970"/>
            <a:ext cx="1508976" cy="48059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16" name="Text 14"/>
          <p:cNvSpPr/>
          <p:nvPr/>
        </p:nvSpPr>
        <p:spPr>
          <a:xfrm>
            <a:off x="8060306" y="5699220"/>
            <a:ext cx="1166076" cy="32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4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Paperwork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59259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DATA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4668398" cy="73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transcribed CSV to per-utterance rows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406" y="2699506"/>
            <a:ext cx="685781" cy="612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247730" y="2844649"/>
            <a:ext cx="11812125" cy="8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export of calls: the </a:t>
            </a:r>
            <a:pPr algn="l" indent="0" marL="0">
              <a:lnSpc>
                <a:spcPct val="132300"/>
              </a:lnSpc>
              <a:buNone/>
            </a:pPr>
            <a:r>
              <a:rPr lang="en-US" sz="2100" i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transcription </a:t>
            </a:r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holds a JSON payload of diarized, timestamped utterances with emotion tags.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406" y="3987460"/>
            <a:ext cx="685781" cy="612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247730" y="4132603"/>
            <a:ext cx="11812125" cy="8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00"/>
              </a:lnSpc>
              <a:buNone/>
            </a:pPr>
            <a:r>
              <a:rPr lang="en-US" sz="2100" i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json_normalize + explode </a:t>
            </a:r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nested list of utterances is flattened: one dataframe row per utterance.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3406" y="5275415"/>
            <a:ext cx="685781" cy="612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2247730" y="5420558"/>
            <a:ext cx="10929031" cy="4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</a:t>
            </a:r>
            <a:pPr algn="l" indent="0" marL="0">
              <a:lnSpc>
                <a:spcPct val="132300"/>
              </a:lnSpc>
              <a:buNone/>
            </a:pPr>
            <a:r>
              <a:rPr lang="en-US" sz="2100" i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 + concat </a:t>
            </a:r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expands nested result fields into flat columns.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406" y="6192763"/>
            <a:ext cx="685781" cy="612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247730" y="6337906"/>
            <a:ext cx="11931463" cy="4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by </a:t>
            </a:r>
            <a:pPr algn="l" indent="0" marL="0">
              <a:lnSpc>
                <a:spcPct val="132300"/>
              </a:lnSpc>
              <a:buNone/>
            </a:pPr>
            <a:r>
              <a:rPr lang="en-US" sz="2100" i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spk </a:t>
            </a:r>
            <a:pPr algn="l" indent="0" marL="0">
              <a:lnSpc>
                <a:spcPct val="1323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separate subsets for the recruiter (spk == 0) and the candidate (spk == 1).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71832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TOOLSET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7183206" cy="73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33406" y="3166874"/>
            <a:ext cx="3708230" cy="18143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Text 3"/>
          <p:cNvSpPr/>
          <p:nvPr/>
        </p:nvSpPr>
        <p:spPr>
          <a:xfrm>
            <a:off x="1333406" y="2775744"/>
            <a:ext cx="3628977" cy="27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5041636" y="3166874"/>
            <a:ext cx="6962228" cy="18143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Text 5"/>
          <p:cNvSpPr/>
          <p:nvPr/>
        </p:nvSpPr>
        <p:spPr>
          <a:xfrm>
            <a:off x="5232136" y="2775744"/>
            <a:ext cx="6790095" cy="27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2003864" y="3166874"/>
            <a:ext cx="4950639" cy="18143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7"/>
          <p:cNvSpPr/>
          <p:nvPr/>
        </p:nvSpPr>
        <p:spPr>
          <a:xfrm>
            <a:off x="12003864" y="2775744"/>
            <a:ext cx="5099158" cy="27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333406" y="3910542"/>
            <a:ext cx="370823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1" name="Text 9"/>
          <p:cNvSpPr/>
          <p:nvPr/>
        </p:nvSpPr>
        <p:spPr>
          <a:xfrm>
            <a:off x="1333406" y="3375517"/>
            <a:ext cx="3628977" cy="38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041636" y="3910542"/>
            <a:ext cx="6962228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3" name="Text 11"/>
          <p:cNvSpPr/>
          <p:nvPr/>
        </p:nvSpPr>
        <p:spPr>
          <a:xfrm>
            <a:off x="5232136" y="3375517"/>
            <a:ext cx="6790095" cy="38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3, Google Colab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03864" y="3910542"/>
            <a:ext cx="4950639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3864" y="3375517"/>
            <a:ext cx="5099158" cy="38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development and execution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3406" y="4636068"/>
            <a:ext cx="370823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406" y="4107090"/>
            <a:ext cx="3628977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041636" y="4636068"/>
            <a:ext cx="6962228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19" name="Text 17"/>
          <p:cNvSpPr/>
          <p:nvPr/>
        </p:nvSpPr>
        <p:spPr>
          <a:xfrm>
            <a:off x="5232136" y="4107090"/>
            <a:ext cx="6790095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pandas, numpy, json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003864" y="4636068"/>
            <a:ext cx="4950639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1" name="Text 19"/>
          <p:cNvSpPr/>
          <p:nvPr/>
        </p:nvSpPr>
        <p:spPr>
          <a:xfrm>
            <a:off x="12003864" y="4107090"/>
            <a:ext cx="5099158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Tabular processing, JSON parsing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33406" y="5361593"/>
            <a:ext cx="370823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406" y="4832615"/>
            <a:ext cx="3628977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Tokenization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041636" y="5361593"/>
            <a:ext cx="6962228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5" name="Text 23"/>
          <p:cNvSpPr/>
          <p:nvPr/>
        </p:nvSpPr>
        <p:spPr>
          <a:xfrm>
            <a:off x="5232136" y="4832615"/>
            <a:ext cx="6790095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NLTK (punkt, stopwords)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003864" y="5361593"/>
            <a:ext cx="4950639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7" name="Text 25"/>
          <p:cNvSpPr/>
          <p:nvPr/>
        </p:nvSpPr>
        <p:spPr>
          <a:xfrm>
            <a:off x="12003864" y="4832615"/>
            <a:ext cx="5099158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Tokens, noise reduction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33406" y="6087118"/>
            <a:ext cx="370823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406" y="5558140"/>
            <a:ext cx="3628977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Lemmatization / stemming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041636" y="6087118"/>
            <a:ext cx="6962228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1" name="Text 29"/>
          <p:cNvSpPr/>
          <p:nvPr/>
        </p:nvSpPr>
        <p:spPr>
          <a:xfrm>
            <a:off x="5232136" y="5558140"/>
            <a:ext cx="6790095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pymorphy3, SnowballStemmer, custom Porter (RU)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003864" y="6087118"/>
            <a:ext cx="4950639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3" name="Text 31"/>
          <p:cNvSpPr/>
          <p:nvPr/>
        </p:nvSpPr>
        <p:spPr>
          <a:xfrm>
            <a:off x="12003864" y="5558140"/>
            <a:ext cx="5099158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and root word form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333406" y="6812644"/>
            <a:ext cx="370823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406" y="6283666"/>
            <a:ext cx="3628977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search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041636" y="6812644"/>
            <a:ext cx="6962228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7" name="Text 35"/>
          <p:cNvSpPr/>
          <p:nvPr/>
        </p:nvSpPr>
        <p:spPr>
          <a:xfrm>
            <a:off x="5232136" y="6283666"/>
            <a:ext cx="6790095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 (regular expressions)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003864" y="6812644"/>
            <a:ext cx="4950639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39" name="Text 37"/>
          <p:cNvSpPr/>
          <p:nvPr/>
        </p:nvSpPr>
        <p:spPr>
          <a:xfrm>
            <a:off x="12003864" y="6283666"/>
            <a:ext cx="5099158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topic detection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333406" y="7538169"/>
            <a:ext cx="3708230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41" name="Text 39"/>
          <p:cNvSpPr/>
          <p:nvPr/>
        </p:nvSpPr>
        <p:spPr>
          <a:xfrm>
            <a:off x="1333406" y="7009191"/>
            <a:ext cx="3628977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5041636" y="7538169"/>
            <a:ext cx="6962228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43" name="Text 41"/>
          <p:cNvSpPr/>
          <p:nvPr/>
        </p:nvSpPr>
        <p:spPr>
          <a:xfrm>
            <a:off x="5232136" y="7009191"/>
            <a:ext cx="6790095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phik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2003864" y="7538169"/>
            <a:ext cx="4950639" cy="9525"/>
          </a:xfrm>
          <a:prstGeom prst="rect">
            <a:avLst/>
          </a:prstGeom>
          <a:solidFill>
            <a:srgbClr val="D7D3D3"/>
          </a:solidFill>
          <a:ln/>
        </p:spPr>
      </p:sp>
      <p:sp>
        <p:nvSpPr>
          <p:cNvPr id="45" name="Text 43"/>
          <p:cNvSpPr/>
          <p:nvPr/>
        </p:nvSpPr>
        <p:spPr>
          <a:xfrm>
            <a:off x="12003864" y="7009191"/>
            <a:ext cx="5099158" cy="37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across mixed-type features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333406" y="7734717"/>
            <a:ext cx="3628977" cy="379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5232136" y="7734717"/>
            <a:ext cx="6790095" cy="379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matplotlib, seaborn, plotly, wordcloud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2003864" y="7734717"/>
            <a:ext cx="5099158" cy="379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Charts, heatmaps, word clouds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8172555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CLASSIFICATION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8172555" cy="65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30"/>
              </a:lnSpc>
              <a:buNone/>
            </a:pPr>
            <a:r>
              <a:rPr lang="en-US" sz="4200" b="1" spc="-63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checklist compliance score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33406" y="2217965"/>
            <a:ext cx="3441663" cy="1557262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" name="Text 3"/>
          <p:cNvSpPr/>
          <p:nvPr/>
        </p:nvSpPr>
        <p:spPr>
          <a:xfrm>
            <a:off x="1504818" y="2014424"/>
            <a:ext cx="3408722" cy="1997529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62621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250" b="1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504818" y="2389377"/>
            <a:ext cx="3408722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25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1556253" y="2425096"/>
            <a:ext cx="3408722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25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1460527" y="2356516"/>
            <a:ext cx="3408722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250" b="1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1333406" y="4079970"/>
            <a:ext cx="6278784" cy="163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20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keyword/regex classifier tags each recruiter utterance with a checklist category. The score equals the share of on-topic utterances out of all utterances.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524907" y="3228484"/>
            <a:ext cx="8172555" cy="286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CATEGORY DISTRIBUTION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9524907" y="3778817"/>
            <a:ext cx="1189340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Greeting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809459" y="3762092"/>
            <a:ext cx="6145043" cy="323831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4907" y="4312142"/>
            <a:ext cx="1361971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934474" y="4295417"/>
            <a:ext cx="5795037" cy="323831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15" name="Text 13"/>
          <p:cNvSpPr/>
          <p:nvPr/>
        </p:nvSpPr>
        <p:spPr>
          <a:xfrm>
            <a:off x="9524907" y="4845466"/>
            <a:ext cx="1361971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Paperwork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934474" y="4828741"/>
            <a:ext cx="4754941" cy="323831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17" name="Text 15"/>
          <p:cNvSpPr/>
          <p:nvPr/>
        </p:nvSpPr>
        <p:spPr>
          <a:xfrm>
            <a:off x="9524907" y="5378791"/>
            <a:ext cx="1361971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934474" y="5362065"/>
            <a:ext cx="3937662" cy="323831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907" y="5912115"/>
            <a:ext cx="1361971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Citizenship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934474" y="5895390"/>
            <a:ext cx="3046111" cy="323831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21" name="Text 19"/>
          <p:cNvSpPr/>
          <p:nvPr/>
        </p:nvSpPr>
        <p:spPr>
          <a:xfrm>
            <a:off x="9524907" y="6445440"/>
            <a:ext cx="1361971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934474" y="6428715"/>
            <a:ext cx="2154559" cy="323831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23" name="Text 21"/>
          <p:cNvSpPr/>
          <p:nvPr/>
        </p:nvSpPr>
        <p:spPr>
          <a:xfrm>
            <a:off x="9524907" y="7019113"/>
            <a:ext cx="8172555" cy="26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mockup · normalized histogram (Plotly)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59259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GENERALIZATION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4668398" cy="695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fixed checklist to any custom text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406" y="2395141"/>
            <a:ext cx="12263342" cy="86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10"/>
              </a:lnSpc>
              <a:buNone/>
            </a:pPr>
            <a:r>
              <a:rPr lang="en-US" sz="210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rule-based classifier only works for one fixed checklist. The generalized engine turns a one-off script into a reusable scoring approach.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33406" y="3755100"/>
            <a:ext cx="3105169" cy="1162277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6" name="Text 4"/>
          <p:cNvSpPr/>
          <p:nvPr/>
        </p:nvSpPr>
        <p:spPr>
          <a:xfrm>
            <a:off x="1477328" y="4021800"/>
            <a:ext cx="2817324" cy="666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Checklist text </a:t>
            </a:r>
            <a:pPr algn="ctr" indent="0" marL="0">
              <a:buNone/>
            </a:pPr>
            <a:r>
              <a:rPr lang="en-US" sz="1425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10025" y="4100381"/>
            <a:ext cx="411418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124319" y="3755100"/>
            <a:ext cx="3105264" cy="1162277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9" name="Text 7"/>
          <p:cNvSpPr/>
          <p:nvPr/>
        </p:nvSpPr>
        <p:spPr>
          <a:xfrm>
            <a:off x="5268240" y="4021800"/>
            <a:ext cx="2817422" cy="666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Tokens + lemmas </a:t>
            </a:r>
            <a:pPr algn="ctr" indent="0" marL="0">
              <a:buNone/>
            </a:pPr>
            <a:r>
              <a:rPr lang="en-US" sz="1425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NLTK, pymorphy3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01032" y="4100381"/>
            <a:ext cx="411418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915326" y="3755100"/>
            <a:ext cx="3105169" cy="1162277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9059248" y="4021800"/>
            <a:ext cx="2817324" cy="666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Keyword stems </a:t>
            </a:r>
            <a:pPr algn="ctr" indent="0" marL="0">
              <a:buNone/>
            </a:pPr>
            <a:r>
              <a:rPr lang="en-US" sz="1425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SnowballStemmer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1945" y="4100381"/>
            <a:ext cx="411418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706238" y="3755100"/>
            <a:ext cx="3105264" cy="1162277"/>
          </a:xfrm>
          <a:prstGeom prst="rect">
            <a:avLst/>
          </a:prstGeom>
          <a:solidFill>
            <a:srgbClr val="E9F8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50159" y="4021800"/>
            <a:ext cx="2817422" cy="666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961"/>
                </a:solidFill>
                <a:highlight>
                  <a:srgbClr val="E9F8FF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0–10 score </a:t>
            </a:r>
            <a:pPr algn="ctr" indent="0" marL="0">
              <a:buNone/>
            </a:pPr>
            <a:r>
              <a:rPr lang="en-US" sz="1425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checklist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59259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PREPROCESSING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3620648" cy="73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Reusable Preprocessing Function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406" y="2699506"/>
            <a:ext cx="609524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171474" y="2753935"/>
            <a:ext cx="6640844" cy="45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5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Lowercasing and Russian ё → е normalization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333406" y="3475964"/>
            <a:ext cx="609524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71474" y="3530393"/>
            <a:ext cx="11890670" cy="866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5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Regex cleanup: HTML tags, punctuation and ellipses, repeated whitespace, encoding artifacts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333406" y="4663660"/>
            <a:ext cx="609524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71474" y="4718088"/>
            <a:ext cx="4804891" cy="45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5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Tokenizing utterances into words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333406" y="5440117"/>
            <a:ext cx="609524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71474" y="5494546"/>
            <a:ext cx="8853800" cy="45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5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Lemmatization — pymorphy3 and NLTK WordNetLemmatizer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333406" y="6216575"/>
            <a:ext cx="609524" cy="509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71474" y="6271004"/>
            <a:ext cx="6730443" cy="45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5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 stopwords and non-alphabetic tokens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71832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EXPLORATORY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7183206" cy="695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Talks, and How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406" y="2585641"/>
            <a:ext cx="8172555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Talk-time ratio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333406" y="3066332"/>
            <a:ext cx="4457757" cy="533324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6" name="Text 4"/>
          <p:cNvSpPr/>
          <p:nvPr/>
        </p:nvSpPr>
        <p:spPr>
          <a:xfrm>
            <a:off x="1266539" y="3066332"/>
            <a:ext cx="4591490" cy="571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 60%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791163" y="3066332"/>
            <a:ext cx="2971838" cy="533324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8" name="Text 6"/>
          <p:cNvSpPr/>
          <p:nvPr/>
        </p:nvSpPr>
        <p:spPr>
          <a:xfrm>
            <a:off x="5746585" y="3066332"/>
            <a:ext cx="3060993" cy="571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40%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3406" y="3828238"/>
            <a:ext cx="8172555" cy="352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937"/>
              </a:lnSpc>
              <a:buNone/>
            </a:pPr>
            <a:r>
              <a:rPr lang="en-US" sz="165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Hypothesis: healthy calls fall near a target ratio close to 60/40.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33406" y="4294944"/>
            <a:ext cx="8172555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mockup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4907" y="2585641"/>
            <a:ext cx="8172555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 part-of-speech profile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4907" y="3217617"/>
            <a:ext cx="1714595" cy="1619156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51025" y="4931929"/>
            <a:ext cx="538465" cy="26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429907" y="3598617"/>
            <a:ext cx="1714595" cy="1238156"/>
          </a:xfrm>
          <a:prstGeom prst="rect">
            <a:avLst/>
          </a:prstGeom>
          <a:solidFill>
            <a:srgbClr val="99E0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024370" y="4931929"/>
            <a:ext cx="601870" cy="26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34907" y="3979617"/>
            <a:ext cx="1714595" cy="857156"/>
          </a:xfrm>
          <a:prstGeom prst="rect">
            <a:avLst/>
          </a:prstGeom>
          <a:solidFill>
            <a:srgbClr val="99E0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030573" y="4931929"/>
            <a:ext cx="399464" cy="26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5239907" y="4265367"/>
            <a:ext cx="1714595" cy="571406"/>
          </a:xfrm>
          <a:prstGeom prst="rect">
            <a:avLst/>
          </a:prstGeom>
          <a:solidFill>
            <a:srgbClr val="CBEE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762270" y="4931929"/>
            <a:ext cx="746068" cy="26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Adverbs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524907" y="5390319"/>
            <a:ext cx="7652483" cy="66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937"/>
              </a:lnSpc>
              <a:buNone/>
            </a:pPr>
            <a:r>
              <a:rPr lang="en-US" sz="165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Hypothesis: a higher verb ratio correlates with more persuasive, active speech.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3180197"/>
            <a:ext cx="8067780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— EXPLORATORY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3699064"/>
            <a:ext cx="7554376" cy="1264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30"/>
              </a:lnSpc>
              <a:buNone/>
            </a:pPr>
            <a:r>
              <a:rPr lang="en-US" sz="4200" b="1" spc="-63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Text and Audio Emotion Agree?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406" y="5230530"/>
            <a:ext cx="6082569" cy="2104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10"/>
              </a:lnSpc>
              <a:buNone/>
            </a:pPr>
            <a:r>
              <a:rPr lang="en-US" sz="210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pPr algn="l" indent="0" marL="0">
              <a:lnSpc>
                <a:spcPct val="136710"/>
              </a:lnSpc>
              <a:buNone/>
            </a:pPr>
            <a:r>
              <a:rPr lang="en-US" sz="2100" i="1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phik </a:t>
            </a:r>
            <a:pPr algn="l" indent="0" marL="0">
              <a:lnSpc>
                <a:spcPct val="136710"/>
              </a:lnSpc>
              <a:buNone/>
            </a:pPr>
            <a:r>
              <a:rPr lang="en-US" sz="210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matrix between speaker, text-derived emotion, and audio-derived emotion tests whether the two signals agree and whether either correlates with speaker role.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582295" y="2804962"/>
            <a:ext cx="5410069" cy="45095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2D2B2B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0876" y="3033543"/>
            <a:ext cx="4952906" cy="40523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33629" y="7466826"/>
            <a:ext cx="2758140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output · phik correlation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952406"/>
            <a:ext cx="1718320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— EXPLORATORY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1471273"/>
            <a:ext cx="17183206" cy="65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30"/>
              </a:lnSpc>
              <a:buNone/>
            </a:pPr>
            <a:r>
              <a:rPr lang="en-US" sz="4200" b="1" spc="-63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Dominant Vocabulary, by Role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33406" y="2541796"/>
            <a:ext cx="7429595" cy="65490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2D2B2B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987" y="3801024"/>
            <a:ext cx="6972433" cy="35739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10649" y="7565384"/>
            <a:ext cx="951310" cy="304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7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524907" y="2541796"/>
            <a:ext cx="7429595" cy="65490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2D2B2B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488" y="3801024"/>
            <a:ext cx="6972433" cy="35739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72573" y="7565384"/>
            <a:ext cx="1010463" cy="304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A0B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33406" y="9319382"/>
            <a:ext cx="17183206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7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output · wordcloud by utterance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406" y="2761967"/>
            <a:ext cx="15716356" cy="328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AA0B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— SCOPE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406" y="3356996"/>
            <a:ext cx="12753879" cy="1546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98"/>
              </a:lnSpc>
              <a:buNone/>
            </a:pPr>
            <a:r>
              <a:rPr lang="en-US" sz="5400" b="1" spc="-81" kern="0" dirty="0">
                <a:solidFill>
                  <a:srgbClr val="20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Exploratory Prototype, Not a Production System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406" y="5170431"/>
            <a:ext cx="11282267" cy="14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41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notebook demonstrates a methodology: rule-based and keyword-based NLP for Russian text, a custom call-quality scoring metric, statistical correlation analysis, and data visualization.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33406" y="6922824"/>
            <a:ext cx="9810654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404"/>
              </a:lnSpc>
              <a:buNone/>
            </a:pPr>
            <a:r>
              <a:rPr lang="en-US" sz="1950" i="1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company-, candidate-, and vacancy-specific details have been generalized or omitted — only the technical methodology is documented.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6392546" y="952406"/>
            <a:ext cx="742912" cy="2476406"/>
          </a:xfrm>
          <a:prstGeom prst="rect">
            <a:avLst/>
          </a:prstGeom>
          <a:gradFill rotWithShape="1">
            <a:gsLst>
              <a:gs pos="30000">
                <a:srgbClr val="201E1D">
                  <a:alpha val="22000"/>
                </a:srgbClr>
              </a:gs>
              <a:gs pos="32000">
                <a:srgbClr val="201E1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Shape 5"/>
          <p:cNvSpPr/>
          <p:nvPr/>
        </p:nvSpPr>
        <p:spPr>
          <a:xfrm>
            <a:off x="16306651" y="4186654"/>
            <a:ext cx="914703" cy="78165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8" name="Text 6"/>
          <p:cNvSpPr/>
          <p:nvPr/>
        </p:nvSpPr>
        <p:spPr>
          <a:xfrm>
            <a:off x="16388861" y="4105578"/>
            <a:ext cx="826483" cy="975481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0058" dir="210000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F3F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6388861" y="4268864"/>
            <a:ext cx="826483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008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6413550" y="4286009"/>
            <a:ext cx="826483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D600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6367601" y="4253090"/>
            <a:ext cx="826483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6"/>
              </a:lnSpc>
              <a:buNone/>
            </a:pPr>
            <a:r>
              <a:rPr lang="en-US" sz="5400" b="1" dirty="0">
                <a:solidFill>
                  <a:srgbClr val="EDB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6548461" y="5726056"/>
            <a:ext cx="431176" cy="97801"/>
          </a:xfrm>
          <a:prstGeom prst="rect">
            <a:avLst/>
          </a:prstGeom>
          <a:solidFill>
            <a:srgbClr val="F8F4F4"/>
          </a:solidFill>
          <a:ln w="6048">
            <a:solidFill>
              <a:srgbClr val="D7D3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548461" y="5852395"/>
            <a:ext cx="419081" cy="85706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4" name="Shape 12"/>
          <p:cNvSpPr/>
          <p:nvPr/>
        </p:nvSpPr>
        <p:spPr>
          <a:xfrm>
            <a:off x="16548461" y="5966638"/>
            <a:ext cx="419081" cy="85706"/>
          </a:xfrm>
          <a:prstGeom prst="rect">
            <a:avLst/>
          </a:prstGeom>
          <a:solidFill>
            <a:srgbClr val="DBD9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48461" y="6080882"/>
            <a:ext cx="419081" cy="85706"/>
          </a:xfrm>
          <a:prstGeom prst="rect">
            <a:avLst/>
          </a:prstGeom>
          <a:solidFill>
            <a:srgbClr val="C2C0C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548461" y="6195125"/>
            <a:ext cx="419081" cy="85706"/>
          </a:xfrm>
          <a:prstGeom prst="rect">
            <a:avLst/>
          </a:prstGeom>
          <a:solidFill>
            <a:srgbClr val="A4A1A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48461" y="6309368"/>
            <a:ext cx="419081" cy="85706"/>
          </a:xfrm>
          <a:prstGeom prst="rect">
            <a:avLst/>
          </a:prstGeom>
          <a:solidFill>
            <a:srgbClr val="86838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548461" y="6423611"/>
            <a:ext cx="419081" cy="85706"/>
          </a:xfrm>
          <a:prstGeom prst="rect">
            <a:avLst/>
          </a:prstGeom>
          <a:solidFill>
            <a:srgbClr val="686565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48461" y="6537855"/>
            <a:ext cx="419081" cy="85706"/>
          </a:xfrm>
          <a:prstGeom prst="rect">
            <a:avLst/>
          </a:prstGeom>
          <a:solidFill>
            <a:srgbClr val="4A4747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48461" y="6652098"/>
            <a:ext cx="419081" cy="85706"/>
          </a:xfrm>
          <a:prstGeom prst="rect">
            <a:avLst/>
          </a:prstGeom>
          <a:solidFill>
            <a:srgbClr val="2C2A2A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48461" y="6766342"/>
            <a:ext cx="419081" cy="85706"/>
          </a:xfrm>
          <a:prstGeom prst="rect">
            <a:avLst/>
          </a:prstGeom>
          <a:solidFill>
            <a:srgbClr val="0D0C0C"/>
          </a:solidFill>
          <a:ln/>
        </p:spPr>
      </p:sp>
      <p:sp>
        <p:nvSpPr>
          <p:cNvPr id="22" name="Shape 20"/>
          <p:cNvSpPr/>
          <p:nvPr/>
        </p:nvSpPr>
        <p:spPr>
          <a:xfrm>
            <a:off x="16516428" y="7692100"/>
            <a:ext cx="104699" cy="104699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649664" y="7692100"/>
            <a:ext cx="104699" cy="104699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24" name="Shape 22"/>
          <p:cNvSpPr/>
          <p:nvPr/>
        </p:nvSpPr>
        <p:spPr>
          <a:xfrm>
            <a:off x="16782901" y="7692100"/>
            <a:ext cx="104699" cy="104699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16137" y="7692100"/>
            <a:ext cx="104699" cy="104699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6" name="Shape 24"/>
          <p:cNvSpPr/>
          <p:nvPr/>
        </p:nvSpPr>
        <p:spPr>
          <a:xfrm>
            <a:off x="16516428" y="7825336"/>
            <a:ext cx="104699" cy="104699"/>
          </a:xfrm>
          <a:prstGeom prst="rect">
            <a:avLst/>
          </a:prstGeom>
          <a:solidFill>
            <a:srgbClr val="FF90B1"/>
          </a:solidFill>
          <a:ln/>
        </p:spPr>
      </p:sp>
      <p:sp>
        <p:nvSpPr>
          <p:cNvPr id="27" name="Shape 25"/>
          <p:cNvSpPr/>
          <p:nvPr/>
        </p:nvSpPr>
        <p:spPr>
          <a:xfrm>
            <a:off x="16649664" y="7825336"/>
            <a:ext cx="104699" cy="104699"/>
          </a:xfrm>
          <a:prstGeom prst="rect">
            <a:avLst/>
          </a:prstGeom>
          <a:solidFill>
            <a:srgbClr val="62C5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6782901" y="7825336"/>
            <a:ext cx="104699" cy="104699"/>
          </a:xfrm>
          <a:prstGeom prst="rect">
            <a:avLst/>
          </a:prstGeom>
          <a:solidFill>
            <a:srgbClr val="7D7979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16137" y="7825336"/>
            <a:ext cx="116795" cy="116795"/>
          </a:xfrm>
          <a:prstGeom prst="rect">
            <a:avLst/>
          </a:prstGeom>
          <a:solidFill>
            <a:srgbClr val="F8F4F4"/>
          </a:solidFill>
          <a:ln w="6048">
            <a:solidFill>
              <a:srgbClr val="D7D3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87796" y="8782089"/>
            <a:ext cx="552412" cy="552412"/>
          </a:xfrm>
          <a:prstGeom prst="ellipse">
            <a:avLst/>
          </a:prstGeom>
          <a:solidFill>
            <a:srgbClr val="201E1D">
              <a:alpha val="7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2026-07-12T06:39:33Z</dcterms:created>
  <dcterms:modified xsi:type="dcterms:W3CDTF">2026-07-12T06:39:33Z</dcterms:modified>
</cp:coreProperties>
</file>